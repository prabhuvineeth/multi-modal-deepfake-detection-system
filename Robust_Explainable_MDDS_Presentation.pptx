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RESEARCH PROGRESS PRESENTATION — 2026</a:t>
            </a:r>
          </a:p>
          <a:p>
            <a:br/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Robust Explainable Multimodal Deepfake Detection</a:t>
            </a:r>
            <a:br/>
            <a:r>
              <a:t>through Forensic Evidence Aggregation</a:t>
            </a:r>
          </a:p>
          <a:p>
            <a:br/>
            <a:br/>
            <a:pPr>
              <a:defRPr sz="1500" b="1">
                <a:solidFill>
                  <a:srgbClr val="00F2FE"/>
                </a:solidFill>
                <a:latin typeface="Segoe UI"/>
              </a:defRPr>
            </a:pPr>
            <a:r>
              <a:t>Authors:</a:t>
            </a:r>
            <a:br/>
            <a:r>
              <a:t>Shravya Umesh (NNM24AD057)   •   Vineeth V Prabhu (NNM24AD071)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01  |  PROBLEM DESCRIPTION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BACKGROUND &amp;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RESEARCH BACKGROUND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Generation vs. Detection:</a:t>
            </a:r>
            <a:br/>
            <a:r>
              <a:t>  Generative AI creates extremely realistic facial swaps and lip manipulations that bypass standard security classifiers.</a:t>
            </a:r>
            <a:br/>
            <a:br/>
            <a:r>
              <a:t>• Unimodal Limits:</a:t>
            </a:r>
            <a:br/>
            <a:r>
              <a:t>  Visual-only models miss audio manipulations (cloning). Audio-only models ignore deepfake facial adjustments.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CORE CHALLENGES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Lack of Explanation:</a:t>
            </a:r>
            <a:br/>
            <a:r>
              <a:t>  Existing deepfake detectors act as black boxes, providing labels without explaining the visual/vocal cues.</a:t>
            </a:r>
            <a:br/>
            <a:br/>
            <a:r>
              <a:t>• Lack of Localization:</a:t>
            </a:r>
            <a:br/>
            <a:r>
              <a:t>  Models do not track temporal boundaries or flag the exact frames of manipulation.</a:t>
            </a:r>
            <a:br/>
            <a:br/>
            <a:r>
              <a:t>• Generalization failure on unseen generators.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02  |  SYSTEM OBJECTIVES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DESIGN &amp;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1. ROBUST JOINT CLASSIFICATION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Cross-Modal Representation:</a:t>
            </a:r>
            <a:br/>
            <a:r>
              <a:t>  Map high-dimensional visual frame sequences with corresponding audio tracks.</a:t>
            </a:r>
            <a:br/>
            <a:br/>
            <a:r>
              <a:t>• Encoder Optimization:</a:t>
            </a:r>
            <a:br/>
            <a:r>
              <a:t>  Leverage frozen self-supervised backbones (ViT + Wav2Vec2) to ensure generalization and stability.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39FF14"/>
                </a:solidFill>
                <a:latin typeface="Segoe UI"/>
              </a:defRPr>
            </a:pPr>
            <a:r>
              <a:t>2. FORENSIC LOCALIZATION &amp; UI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Frame-by-Frame Tracking:</a:t>
            </a:r>
            <a:br/>
            <a:r>
              <a:t>  Inject a dilated CNN + CRF boundary classifier to segment the video timeline into REAL, FAKE, or BOUNDARY tags.</a:t>
            </a:r>
            <a:br/>
            <a:br/>
            <a:r>
              <a:t>• Visual Dashboard:</a:t>
            </a:r>
            <a:br/>
            <a:r>
              <a:t>  Generate spatial-aware heatmaps and temporal anomalies inside a real-time web interface.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03  |  SYSTEM ARCHITECTURE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FUNCTIONAL MODALITY PIPELINE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Pipeline Stage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Module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Functional Operations / 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1. Preprocessing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RetinaFace &amp; FFmpeg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Extract audio &amp; frames. Align inputs. Crop face (224x224) and mouth ROIs (96x96).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2. Feature Extraction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ViT-Base &amp; Wav2Vec2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Generate spatial visual frames and temporal vocal speech embeddings (768-dim).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3. Modality Fusion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Cross-Modal Attention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Align frame embeddings with audio window features using 2 cross-attention layers.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4. Specialist Branches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 MLP Heads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Four MLP heads compute distinct anomaly scores (Lip-Sync, Identity, Temporal, AV-Sync).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5. Sequence Tagger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Dilated CNN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Processes temporal features. Employs CRF loss to assign frame tags.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04  |  MODEL HYPERPARAMETERS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CONFIGURATION &amp;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NETWORK DIMENSIONS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Feature Encoders:</a:t>
            </a:r>
            <a:br/>
            <a:r>
              <a:t>  - Audio: Wav2Vec2 base (768-dim)</a:t>
            </a:r>
            <a:br/>
            <a:r>
              <a:t>  - Video: ViT-Base patch16 (768-dim)</a:t>
            </a:r>
            <a:br/>
            <a:r>
              <a:t>  - Encoder Freezing: First 8 layers frozen</a:t>
            </a:r>
            <a:br/>
            <a:br/>
            <a:r>
              <a:t>• Fusion Layers:</a:t>
            </a:r>
            <a:br/>
            <a:r>
              <a:t>  - Hidden Dim: 512 | Attention Heads: 8</a:t>
            </a:r>
            <a:br/>
            <a:br/>
            <a:r>
              <a:t>• Dilated CNN + CRF:</a:t>
            </a:r>
            <a:br/>
            <a:r>
              <a:t>  - CNN channels: [128, 128, 128] | kernel=3</a:t>
            </a:r>
            <a:br/>
            <a:r>
              <a:t>  - Dilations: [1, 2, 4]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OPTIMIZATION &amp; LOSS WEIGHTS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Training Settings:</a:t>
            </a:r>
            <a:br/>
            <a:r>
              <a:t>  - Optimizer: AdamW (LR: 1e-4, Weight Decay: 1e-4)</a:t>
            </a:r>
            <a:br/>
            <a:r>
              <a:t>  - Batch size: 8 | Accumulation steps: 4</a:t>
            </a:r>
            <a:br/>
            <a:r>
              <a:t>  - Epochs: 5 (Cosine Scheduler)</a:t>
            </a:r>
            <a:br/>
            <a:br/>
            <a:r>
              <a:t>• Multi-Task Loss Weights:</a:t>
            </a:r>
            <a:br/>
            <a:r>
              <a:t>  - Global classification loss: 1.0</a:t>
            </a:r>
            <a:br/>
            <a:r>
              <a:t>  - CRF boundary tag loss: 1.0</a:t>
            </a:r>
            <a:br/>
            <a:r>
              <a:t>  - Modal specialist losses: 0.5 each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05  |  COMPARATIVE ANALYSIS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OUR SYSTEM VS. EXISTING WORKS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877824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Cues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Key Models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Limitations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Audio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Speech, Pitch, Jitter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SVM, XGBoost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Fails on high-quality visual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Visual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Spatial anomalies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CNN, ResNet, ViT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audio-video misalignments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Lip Sync Alignment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Mouth shape visemes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AV-HuBERT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identity face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Proposed MDDS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Joint representation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Cross-Attention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High video compression artifacts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06  |  KEY CONTRIBUTIONS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SYSTEM IMPROVEMENTS &amp; FALLBACK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SYSTEM CONTRIBUTIONS</a:t>
            </a:r>
          </a:p>
          <a:p>
            <a:br/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• Calibration &amp; Scaling:</a:t>
            </a:r>
            <a:br/>
            <a:r>
              <a:t>  Confidence thresholds are calibrated dynamically to map network logits accurately.</a:t>
            </a:r>
            <a:br/>
            <a:br/>
            <a:r>
              <a:t>• Adaptive Heatmap Scaling:</a:t>
            </a:r>
            <a:br/>
            <a:r>
              <a:t>  Visual overlay text size adjusts to the native video resolution.</a:t>
            </a:r>
            <a:br/>
            <a:br/>
            <a:r>
              <a:t>• Post-Inference Zero-Training Optimizations:</a:t>
            </a:r>
            <a:br/>
            <a:r>
              <a:t>  - **Specialist Re-weighting:** Maps channel weight contextually per dataset route (e.g., 0.80 visual weight for visual-only route) to shield from silent audio noise.</a:t>
            </a:r>
            <a:br/>
            <a:r>
              <a:t>  - **Temporal Smoothing:** Moving average filter of size k=5 to smooth frame anomaly scores, removing transient outliers.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SPECIALIST OVERRIDE FALLBACK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Fallback Mechanism:</a:t>
            </a:r>
            <a:br/>
            <a:r>
              <a:t>  If the joint model outputs a low classification probability due to unseen domain shifts, but any specialist (Lip-Sync, Identity, or AV-Sync) score exceeds **`0.60`**:</a:t>
            </a:r>
            <a:br/>
            <a:r>
              <a:t>  - Verdict is overridden to **FAKE**.</a:t>
            </a:r>
            <a:br/>
            <a:r>
              <a:t>  - Bounding box highlighting immediately targets the manipulated region.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07  |  EVALUATION &amp; METRICS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MODEL PERFORMANCE PER DATASET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45920"/>
          <a:ext cx="108173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2169"/>
                <a:gridCol w="1352169"/>
                <a:gridCol w="1352169"/>
                <a:gridCol w="1352169"/>
                <a:gridCol w="1352169"/>
                <a:gridCol w="1352169"/>
                <a:gridCol w="1352169"/>
                <a:gridCol w="1352169"/>
              </a:tblGrid>
              <a:tr h="8229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Dataset Route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EER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FakeAVCeleb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0.9130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11.50%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0.8200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0.7424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0.9800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0.8448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FaceForensics++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0.52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0.7530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23.10%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0.6750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0.6224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0.8900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0.7325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LAV-DF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0.8060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19.10%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0.7313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0.7003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0.8087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0.7506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Joint (Combined)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0.9520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5.80%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0.9120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0.9250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0.9310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0.9280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08  |  PROJECT LIMITATIONS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IDENTIFIED CONSTRAINTS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TECHNICAL LIMITATIONS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Out-of-Distribution Vulnerability:</a:t>
            </a:r>
            <a:br/>
            <a:r>
              <a:t>  The system remains sensitive to extreme compression, noisy ambient settings, and video formats not seen during training.</a:t>
            </a:r>
            <a:br/>
            <a:br/>
            <a:r>
              <a:t>• Multi-Face Processing Constraints:</a:t>
            </a:r>
            <a:br/>
            <a:r>
              <a:t>  RetinaFace preprocess extracts only the dominant (largest/most central) face. It currently lacks multi-face grouping or tracking.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OPERATIONAL CONSTRAINTS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Inference Overhead:</a:t>
            </a:r>
            <a:br/>
            <a:r>
              <a:t>  Heavy backbone models (Wav2Vec2 + ViT) require GPU resources; CPU-only execution causes moderate latency (~3-5s).</a:t>
            </a:r>
            <a:br/>
            <a:br/>
            <a:r>
              <a:t>• Modality Dependencies:</a:t>
            </a:r>
            <a:br/>
            <a:r>
              <a:t>  In visual-only routing (e.g. silent FaceForensics++ samples), audio-based specialists are bypassed, which drops cross-modal effectiveness.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011680"/>
            <a:ext cx="10360152" cy="365760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ROBUST EXPLAINABLE MULTIMODAL DEEPFAKE DETECTION</a:t>
            </a:r>
          </a:p>
          <a:p>
            <a:br/>
            <a:pPr>
              <a:defRPr sz="54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  <a:p>
            <a:br/>
            <a:pPr>
              <a:defRPr sz="1600">
                <a:solidFill>
                  <a:srgbClr val="94A3B8"/>
                </a:solidFill>
                <a:latin typeface="Segoe U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