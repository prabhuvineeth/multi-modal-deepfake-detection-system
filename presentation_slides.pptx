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2FE"/>
                </a:solidFill>
                <a:latin typeface="Arial"/>
              </a:defRPr>
            </a:pPr>
            <a:r>
              <a:t>INTERNSHIP PROGRESS PRESENTATION - 2026</a:t>
            </a:r>
          </a:p>
          <a:p>
            <a:br/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ROBUST EXPLAINABLE MULTIMODAL DEEPFAKE DETECTION</a:t>
            </a:r>
            <a:br/>
            <a:r>
              <a:t>THROUGH FORENSIC EVIDENCE AGGREGATION</a:t>
            </a:r>
          </a:p>
          <a:p>
            <a:br/>
            <a:pPr>
              <a:defRPr sz="1600" b="1">
                <a:solidFill>
                  <a:srgbClr val="00F2FE"/>
                </a:solidFill>
                <a:latin typeface="Arial"/>
              </a:defRPr>
            </a:pPr>
            <a:r>
              <a:t>Presented by:</a:t>
            </a:r>
            <a:br/>
            <a:r>
              <a:t>Shravya Umesh (NNM24AD057)   |   Vineeth V Prabhu (NNM24AD071)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F2FE"/>
                </a:solidFill>
                <a:latin typeface="Arial"/>
              </a:defRPr>
            </a:pPr>
            <a:r>
              <a:t>01 | PROBLEM DESCRIPTION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BACKGROUND &amp;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2FE"/>
                </a:solidFill>
                <a:latin typeface="Arial"/>
              </a:defRPr>
            </a:pPr>
            <a:r>
              <a:t>BACKGROUND CONTEXT</a:t>
            </a:r>
          </a:p>
          <a:p>
            <a:br/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• Generative models generate realistic deepfakes.</a:t>
            </a:r>
            <a:br/>
            <a:br/>
            <a:r>
              <a:t>• Audio-visual channels are often spoofed independently.</a:t>
            </a:r>
            <a:br/>
            <a:br/>
            <a:r>
              <a:t>• Traditional unimodal systems fail to detect compound cross-modal discrepancies.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E0879"/>
                </a:solidFill>
                <a:latin typeface="Arial"/>
              </a:defRPr>
            </a:pPr>
            <a:r>
              <a:t>CORE LIMITATIONS</a:t>
            </a:r>
          </a:p>
          <a:p>
            <a:br/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• Black Box Decisions: Output binary labels without explaining the visual/vocal cues.</a:t>
            </a:r>
            <a:br/>
            <a:br/>
            <a:r>
              <a:t>• Localization Failure: Fails to highlight temporal forgery boundaries or spatial face overlays.</a:t>
            </a:r>
            <a:br/>
            <a:br/>
            <a:r>
              <a:t>• Generalization Bound: Extreme domain shift under high network compression.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F2FE"/>
                </a:solidFill>
                <a:latin typeface="Arial"/>
              </a:defRPr>
            </a:pPr>
            <a:r>
              <a:t>02 | SYSTEM OBJECTIVES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ARCHITECTURAL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2FE"/>
                </a:solidFill>
                <a:latin typeface="Arial"/>
              </a:defRPr>
            </a:pPr>
            <a:r>
              <a:t>FUSION CLASSIFIER</a:t>
            </a:r>
          </a:p>
          <a:p>
            <a:br/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• Cross-Modal Representation:</a:t>
            </a:r>
            <a:br/>
            <a:r>
              <a:t>  Align facial visual streams with paired acoustic vocal features.</a:t>
            </a:r>
            <a:br/>
            <a:br/>
            <a:r>
              <a:t>• Robust Pretrained Backbones:</a:t>
            </a:r>
            <a:br/>
            <a:r>
              <a:t>  Utilize frozen visual/acoustic weights (ViT-Base + Wav2Vec2-Base) to prevent overfitting.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E0879"/>
                </a:solidFill>
                <a:latin typeface="Arial"/>
              </a:defRPr>
            </a:pPr>
            <a:r>
              <a:t>EXPLAINABILITY &amp; LOCALIZATION</a:t>
            </a:r>
          </a:p>
          <a:p>
            <a:br/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• Chronological Boundary Tagger:</a:t>
            </a:r>
            <a:br/>
            <a:r>
              <a:t>  Apply dilated 1D Temporal CNN + Linear-Chain CRF for frame tag classifications.</a:t>
            </a:r>
            <a:br/>
            <a:br/>
            <a:r>
              <a:t>• Visual Evidence Reporting:</a:t>
            </a:r>
            <a:br/>
            <a:r>
              <a:t>  Present spatial-aware heatmaps and visual timeline blocks inside a Web UI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F2FE"/>
                </a:solidFill>
                <a:latin typeface="Arial"/>
              </a:defRPr>
            </a:pPr>
            <a:r>
              <a:t>03 | PROPOSED ARCHITECTURE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SYSTEM MODULES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645920"/>
          <a:ext cx="108173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784"/>
                <a:gridCol w="3605784"/>
                <a:gridCol w="3605784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F2FE"/>
                          </a:solidFill>
                          <a:latin typeface="Arial"/>
                        </a:defRPr>
                      </a:pPr>
                      <a:r>
                        <a:t>Pipeline Stage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F2FE"/>
                          </a:solidFill>
                          <a:latin typeface="Arial"/>
                        </a:defRPr>
                      </a:pPr>
                      <a:r>
                        <a:t>Core Module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F2FE"/>
                          </a:solidFill>
                          <a:latin typeface="Arial"/>
                        </a:defRPr>
                      </a:pPr>
                      <a:r>
                        <a:t>Functional Operations / 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 Preprocessing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RetinaFace &amp; FFmpeg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Extract audio &amp; frames. Crop faces (224x224) and mouth ROIs (96x96) at 25 FPS.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2. Encoders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ViT-Base &amp; Wav2Vec2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Compute spatial and acoustic representations (768-dim embeddings).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3. Modality Fusion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Cross-Modal Attention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2-layer multi-head block aligning visual sequences to audio windows.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4. Specialist Heads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Evidence MLP Branches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Four branches compute independent anomaly scores [0, 1].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5. Boundary Tagger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Dilated CNN + CRF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Aggregates anomalies across sequence to tag frame boundaries.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F2FE"/>
                </a:solidFill>
                <a:latin typeface="Arial"/>
              </a:defRPr>
            </a:pPr>
            <a:r>
              <a:t>04 | MODEL HYPERPARAMETERS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CONFIGURATION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2FE"/>
                </a:solidFill>
                <a:latin typeface="Arial"/>
              </a:defRPr>
            </a:pPr>
            <a:r>
              <a:t>NETWORK PARAMETERS</a:t>
            </a:r>
          </a:p>
          <a:p>
            <a:br/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• Encoders:</a:t>
            </a:r>
            <a:br/>
            <a:r>
              <a:t>  Wav2Vec2: facebook/wav2vec2-base-960h (768-dim)</a:t>
            </a:r>
            <a:br/>
            <a:r>
              <a:t>  ViT: google/vit-base-patch16-224 (768-dim)</a:t>
            </a:r>
            <a:br/>
            <a:br/>
            <a:r>
              <a:t>• Backbone Freezing:</a:t>
            </a:r>
            <a:br/>
            <a:r>
              <a:t>  First 8 layers frozen in both visual/audio encoders</a:t>
            </a:r>
            <a:br/>
            <a:br/>
            <a:r>
              <a:t>• CRF Boundary Tagger:</a:t>
            </a:r>
            <a:br/>
            <a:r>
              <a:t>  3-layer 1D CNN (dilations=[1, 2, 4], 128 channels)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82512" y="1645920"/>
          <a:ext cx="51206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E0879"/>
                          </a:solidFill>
                          <a:latin typeface="Arial"/>
                        </a:defRPr>
                      </a:pPr>
                      <a:r>
                        <a:t>Loss 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E0879"/>
                          </a:solidFill>
                          <a:latin typeface="Arial"/>
                        </a:defRPr>
                      </a:pPr>
                      <a:r>
                        <a:t>Symbol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E0879"/>
                          </a:solidFill>
                          <a:latin typeface="Arial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lambda_cls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Boundary CRF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lambda_boundary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Specialists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lambda_specialist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0.5 each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F2FE"/>
                </a:solidFill>
                <a:latin typeface="Arial"/>
              </a:defRPr>
            </a:pPr>
            <a:r>
              <a:t>05 | FINDINGS FROM LITERATURE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STATE OF THE ART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645920"/>
          <a:ext cx="108173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338"/>
                <a:gridCol w="2704338"/>
                <a:gridCol w="2704338"/>
                <a:gridCol w="2704338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2FE"/>
                          </a:solidFill>
                          <a:latin typeface="Arial"/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2FE"/>
                          </a:solidFill>
                          <a:latin typeface="Arial"/>
                        </a:defRPr>
                      </a:pPr>
                      <a:r>
                        <a:t>Core Cues Used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2FE"/>
                          </a:solidFill>
                          <a:latin typeface="Arial"/>
                        </a:defRPr>
                      </a:pPr>
                      <a:r>
                        <a:t>Key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2FE"/>
                          </a:solidFill>
                          <a:latin typeface="Arial"/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Audio Forensics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Speech cues, MFCC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SVM, XGBoost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Fails completely on clean visual swaps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Splicing Detection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Spatial blending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ResNet, ViT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Misses lip-sync speech discrepancies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Voice-Lip Sync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Mouth shape visemes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AV-HuBERT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Computationally heavy, fails on face swaps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Proposed MDDS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Joint representation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Cross-Attention + CRF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Domain shift under high compression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F2FE"/>
                </a:solidFill>
                <a:latin typeface="Arial"/>
              </a:defRPr>
            </a:pPr>
            <a:r>
              <a:t>06 | OBSERVATIONS &amp; CONTRIBUTIONS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SYSTEM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2FE"/>
                </a:solidFill>
                <a:latin typeface="Arial"/>
              </a:defRPr>
            </a:pPr>
            <a:r>
              <a:t>CORE CONTRIBUTIONS</a:t>
            </a:r>
          </a:p>
          <a:p>
            <a:br/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• Dynamic Heatmap Scaling:</a:t>
            </a:r>
            <a:br/>
            <a:r>
              <a:t>  Overlay text scale automatically adjusts based on source video resolution.</a:t>
            </a:r>
            <a:br/>
            <a:br/>
            <a:r>
              <a:t>• Interactive Dashboard:</a:t>
            </a:r>
            <a:br/>
            <a:r>
              <a:t>  Provides real-time streaming with adaptive web transcoding.</a:t>
            </a:r>
            <a:br/>
            <a:br/>
            <a:r>
              <a:t>• Calibrated Classification Threshold:</a:t>
            </a:r>
            <a:br/>
            <a:r>
              <a:t>  Decision boundary calibration avoids high-confidence false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E0879"/>
                </a:solidFill>
                <a:latin typeface="Arial"/>
              </a:defRPr>
            </a:pPr>
            <a:r>
              <a:t>SPECIALIST OVERRIDE FALLBACK</a:t>
            </a:r>
          </a:p>
          <a:p>
            <a:br/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• Solves the unseen domain classification mismatch.</a:t>
            </a:r>
            <a:br/>
            <a:br/>
            <a:r>
              <a:t>• If joint model probability is low but *any* specialist score (Lip-Sync, Identity, or AV-Sync) exceeds **`0.60`** confidence:</a:t>
            </a:r>
            <a:br/>
            <a:r>
              <a:t>  - Verdict is overridden to **FAKE**</a:t>
            </a:r>
            <a:br/>
            <a:r>
              <a:t>  - Frame overlays highlight the face swap boundary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F2FE"/>
                </a:solidFill>
                <a:latin typeface="Arial"/>
              </a:defRPr>
            </a:pPr>
            <a:r>
              <a:t>07 | SYSTEM EVALUATION METRICS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PERFORMANCE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645920"/>
          <a:ext cx="51206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2FE"/>
                          </a:solidFill>
                          <a:latin typeface="Arial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2FE"/>
                          </a:solidFill>
                          <a:latin typeface="Arial"/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2FE"/>
                          </a:solidFill>
                          <a:latin typeface="Arial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FakeAVCeleb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0.913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0.892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FaceForensics++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0.753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0.741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LAV-DF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0.806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0.794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Combined (Joint)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0.952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0.928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E0879"/>
                </a:solidFill>
                <a:latin typeface="Arial"/>
              </a:defRPr>
            </a:pPr>
            <a:r>
              <a:t>DELIVERABLES COMPLETED</a:t>
            </a:r>
          </a:p>
          <a:p>
            <a:br/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✔ Fully trained cross-modal fusion architecture layers.</a:t>
            </a:r>
            <a:br/>
            <a:br/>
            <a:r>
              <a:t>✔ CNN + CRF temporal boundary tagger.</a:t>
            </a:r>
            <a:br/>
            <a:br/>
            <a:r>
              <a:t>✔ Web client serving visual dashboard reports.</a:t>
            </a:r>
            <a:br/>
            <a:br/>
            <a:r>
              <a:t>✔ 6-page IEEE Conference Draft + 15-page Journal LaTeX Draft.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2FE"/>
                </a:solidFill>
                <a:latin typeface="Arial"/>
              </a:defRPr>
            </a:pPr>
            <a:r>
              <a:t>ROBUST EXPLAINABLE MULTIMODAL DEEPFAKE DETECTION</a:t>
            </a:r>
          </a:p>
          <a:p>
            <a:br/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  <a:p>
            <a:br/>
            <a:pPr>
              <a:defRPr sz="1800">
                <a:solidFill>
                  <a:srgbClr val="94A3B8"/>
                </a:solidFill>
                <a:latin typeface="Arial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